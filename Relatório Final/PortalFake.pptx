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Trebuchet MS" panose="020B0603020202020204" pitchFamily="34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6728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07a0020e_2_36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382" cy="4114779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9707a0020e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56" cy="342894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381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707a0020e_2_51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382" cy="4114779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9707a0020e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56" cy="342894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579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07a0020e_2_60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382" cy="4114779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9707a0020e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56" cy="342894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4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f89ee54e_0_7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400" cy="4114800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e4f89ee54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5626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9dd023fa_0_15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400" cy="4114800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f59dd023f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1968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9dd023fa_0_30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400" cy="4114800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f59dd023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118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4f89ee54e_0_50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400" cy="4114800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4f89ee54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1491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07a0020e_2_1303:notes"/>
          <p:cNvSpPr txBox="1">
            <a:spLocks noGrp="1"/>
          </p:cNvSpPr>
          <p:nvPr>
            <p:ph type="body" idx="1"/>
          </p:nvPr>
        </p:nvSpPr>
        <p:spPr>
          <a:xfrm>
            <a:off x="685794" y="4343389"/>
            <a:ext cx="5486382" cy="4114779"/>
          </a:xfrm>
          <a:prstGeom prst="rect">
            <a:avLst/>
          </a:prstGeom>
        </p:spPr>
        <p:txBody>
          <a:bodyPr spcFirstLastPara="1" wrap="square" lIns="158375" tIns="158375" rIns="158375" bIns="158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9707a0020e_2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2099" y="685761"/>
            <a:ext cx="4574456" cy="342894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145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550775" y="137906"/>
            <a:ext cx="3529705" cy="68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9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2170370" y="1702688"/>
            <a:ext cx="4794558" cy="134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78"/>
            <a:ext cx="9130277" cy="513569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550775" y="137906"/>
            <a:ext cx="3529705" cy="68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9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550775" y="137906"/>
            <a:ext cx="3529705" cy="68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9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467069" y="1307576"/>
            <a:ext cx="3272907" cy="28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3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790870" y="1299651"/>
            <a:ext cx="3709967" cy="343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3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ctrTitle"/>
          </p:nvPr>
        </p:nvSpPr>
        <p:spPr>
          <a:xfrm>
            <a:off x="550775" y="137906"/>
            <a:ext cx="3032223" cy="68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900" b="1" i="0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78"/>
            <a:ext cx="9130314" cy="513569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50775" y="137906"/>
            <a:ext cx="3529705" cy="68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900" b="1" i="0" u="none" strike="noStrike" cap="none">
                <a:solidFill>
                  <a:srgbClr val="A500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70370" y="1702688"/>
            <a:ext cx="4794558" cy="134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9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328214" y="4876371"/>
            <a:ext cx="2479353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7211333" y="4899844"/>
            <a:ext cx="1671700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212083" y="4890100"/>
            <a:ext cx="366566" cy="18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lv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63500" lvl="1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63500" lvl="2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3500" lvl="3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63500" lvl="4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63500" lvl="5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63500" lvl="6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63500" lvl="7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63500" lvl="8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635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r>
              <a:rPr lang="pt-BR"/>
              <a:t>/38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luanmaquin2/HyperAutomationPortalFake/tree/dev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8" y="3858"/>
            <a:ext cx="9130315" cy="513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620" y="974446"/>
            <a:ext cx="1924073" cy="6847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1051475" y="1692500"/>
            <a:ext cx="73971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0" rIns="0" bIns="0" anchor="t" anchorCtr="0">
            <a:spAutoFit/>
          </a:bodyPr>
          <a:lstStyle/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FFFF"/>
                </a:solidFill>
              </a:rPr>
              <a:t>Desenvolvimento do Robô de Cadastro Versão 1.0 utilizando</a:t>
            </a:r>
            <a:endParaRPr>
              <a:solidFill>
                <a:srgbClr val="FFFFFF"/>
              </a:solidFill>
            </a:endParaRP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FFFF"/>
                </a:solidFill>
              </a:rPr>
              <a:t>Draw.io, Python, Playwright, Git, GitHub e GitFlow</a:t>
            </a:r>
            <a:endParaRPr>
              <a:solidFill>
                <a:srgbClr val="FFFFFF"/>
              </a:solidFill>
            </a:endParaRPr>
          </a:p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FFFFFF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1051475" y="2612500"/>
            <a:ext cx="33582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Disciplina: Hyperautomation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1051475" y="3112678"/>
            <a:ext cx="3456300" cy="17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50" rIns="0" bIns="0" anchor="t" anchorCtr="0">
            <a:spAutoFit/>
          </a:bodyPr>
          <a:lstStyle/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Daniele Greice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Éricle Costa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Luã Maury Maquiné da Silva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Luan Pinheiro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Professor(a): Moisés Levy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Mentor(a): Vitor Bremgartner</a:t>
            </a:r>
            <a:endParaRPr sz="1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5400" marR="12700" lvl="0" indent="0" algn="l" rtl="0">
              <a:lnSpc>
                <a:spcPct val="136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AX Academy </a:t>
            </a:r>
            <a:r>
              <a:rPr lang="pt-BR" sz="1200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pt-BR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Digital Transformation Julho/2026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1165658" y="321646"/>
            <a:ext cx="30474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Contextualização e Objetivo</a:t>
            </a:r>
            <a:endParaRPr sz="2700"/>
          </a:p>
        </p:txBody>
      </p:sp>
      <p:sp>
        <p:nvSpPr>
          <p:cNvPr id="100" name="Google Shape;100;p20"/>
          <p:cNvSpPr/>
          <p:nvPr/>
        </p:nvSpPr>
        <p:spPr>
          <a:xfrm>
            <a:off x="1165649" y="1257428"/>
            <a:ext cx="2282685" cy="0"/>
          </a:xfrm>
          <a:custGeom>
            <a:avLst/>
            <a:gdLst/>
            <a:ahLst/>
            <a:cxnLst/>
            <a:rect l="l" t="t" r="r" b="b"/>
            <a:pathLst>
              <a:path w="1440180" h="120000" extrusionOk="0">
                <a:moveTo>
                  <a:pt x="0" y="0"/>
                </a:moveTo>
                <a:lnTo>
                  <a:pt x="1440002" y="0"/>
                </a:lnTo>
              </a:path>
            </a:pathLst>
          </a:custGeom>
          <a:noFill/>
          <a:ln w="12625" cap="flat" cmpd="sng">
            <a:solidFill>
              <a:srgbClr val="DB99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grpSp>
        <p:nvGrpSpPr>
          <p:cNvPr id="101" name="Google Shape;101;p20"/>
          <p:cNvGrpSpPr/>
          <p:nvPr/>
        </p:nvGrpSpPr>
        <p:grpSpPr>
          <a:xfrm>
            <a:off x="0" y="4895050"/>
            <a:ext cx="9134903" cy="240896"/>
            <a:chOff x="0" y="3088165"/>
            <a:chExt cx="5760075" cy="151975"/>
          </a:xfrm>
        </p:grpSpPr>
        <p:pic>
          <p:nvPicPr>
            <p:cNvPr id="102" name="Google Shape;10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088165"/>
              <a:ext cx="5760075" cy="151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20"/>
            <p:cNvSpPr/>
            <p:nvPr/>
          </p:nvSpPr>
          <p:spPr>
            <a:xfrm>
              <a:off x="0" y="320204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w="120000" h="38100" extrusionOk="0">
                  <a:moveTo>
                    <a:pt x="0" y="37958"/>
                  </a:moveTo>
                  <a:lnTo>
                    <a:pt x="0" y="0"/>
                  </a:lnTo>
                  <a:lnTo>
                    <a:pt x="0" y="37958"/>
                  </a:lnTo>
                  <a:close/>
                </a:path>
                <a:path w="120000" h="38100" extrusionOk="0">
                  <a:moveTo>
                    <a:pt x="0" y="0"/>
                  </a:moveTo>
                </a:path>
              </a:pathLst>
            </a:custGeom>
            <a:solidFill>
              <a:srgbClr val="1E0A0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/>
            </a:p>
          </p:txBody>
        </p:sp>
      </p:grpSp>
      <p:sp>
        <p:nvSpPr>
          <p:cNvPr id="104" name="Google Shape;104;p20"/>
          <p:cNvSpPr txBox="1">
            <a:spLocks noGrp="1"/>
          </p:cNvSpPr>
          <p:nvPr>
            <p:ph type="ftr" idx="11"/>
          </p:nvPr>
        </p:nvSpPr>
        <p:spPr>
          <a:xfrm>
            <a:off x="7275901" y="4933900"/>
            <a:ext cx="15222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4838950"/>
            <a:ext cx="6594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1226750" y="1641850"/>
            <a:ext cx="6759600" cy="27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B7335C"/>
                </a:solidFill>
                <a:latin typeface="Calibri"/>
                <a:ea typeface="Calibri"/>
                <a:cs typeface="Calibri"/>
                <a:sym typeface="Calibri"/>
              </a:rPr>
              <a:t>A automação tem como objetivo acessar o Portal Fake, abrir a tela de cadastro, extrair automaticamente as informações do formulário, gerar uma ficha de cadastro em formato Word e enviar essa ficha por e-mail ao cliente, reduzindo atividades manuais e padronizando o processo.</a:t>
            </a:r>
            <a:endParaRPr sz="1700">
              <a:solidFill>
                <a:srgbClr val="B733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733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550775" y="200475"/>
            <a:ext cx="66780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Modelagem do Processo - BPMN</a:t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570916" y="663843"/>
            <a:ext cx="2797581" cy="0"/>
          </a:xfrm>
          <a:custGeom>
            <a:avLst/>
            <a:gdLst/>
            <a:ahLst/>
            <a:cxnLst/>
            <a:rect l="l" t="t" r="r" b="b"/>
            <a:pathLst>
              <a:path w="1764030" h="120000" extrusionOk="0">
                <a:moveTo>
                  <a:pt x="0" y="0"/>
                </a:moveTo>
                <a:lnTo>
                  <a:pt x="1764030" y="0"/>
                </a:lnTo>
              </a:path>
            </a:pathLst>
          </a:custGeom>
          <a:noFill/>
          <a:ln w="12625" cap="flat" cmpd="sng">
            <a:solidFill>
              <a:srgbClr val="A5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grpSp>
        <p:nvGrpSpPr>
          <p:cNvPr id="113" name="Google Shape;113;p21"/>
          <p:cNvGrpSpPr/>
          <p:nvPr/>
        </p:nvGrpSpPr>
        <p:grpSpPr>
          <a:xfrm>
            <a:off x="0" y="4895050"/>
            <a:ext cx="9134901" cy="240896"/>
            <a:chOff x="0" y="3088165"/>
            <a:chExt cx="5760074" cy="151975"/>
          </a:xfrm>
        </p:grpSpPr>
        <p:pic>
          <p:nvPicPr>
            <p:cNvPr id="114" name="Google Shape;11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088165"/>
              <a:ext cx="5760074" cy="151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21"/>
            <p:cNvSpPr/>
            <p:nvPr/>
          </p:nvSpPr>
          <p:spPr>
            <a:xfrm>
              <a:off x="0" y="320204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w="120000" h="38100" extrusionOk="0">
                  <a:moveTo>
                    <a:pt x="0" y="37958"/>
                  </a:moveTo>
                  <a:lnTo>
                    <a:pt x="0" y="0"/>
                  </a:lnTo>
                  <a:lnTo>
                    <a:pt x="0" y="37958"/>
                  </a:lnTo>
                  <a:close/>
                </a:path>
                <a:path w="120000" h="38100" extrusionOk="0">
                  <a:moveTo>
                    <a:pt x="0" y="0"/>
                  </a:moveTo>
                </a:path>
              </a:pathLst>
            </a:custGeom>
            <a:solidFill>
              <a:srgbClr val="1E0A0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/>
            </a:p>
          </p:txBody>
        </p:sp>
      </p:grpSp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6770" y="4314374"/>
            <a:ext cx="1402078" cy="4564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>
            <a:spLocks noGrp="1"/>
          </p:cNvSpPr>
          <p:nvPr>
            <p:ph type="ftr" idx="11"/>
          </p:nvPr>
        </p:nvSpPr>
        <p:spPr>
          <a:xfrm>
            <a:off x="8076802" y="4933900"/>
            <a:ext cx="10581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3200" y="4838950"/>
            <a:ext cx="6438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3400" y="805774"/>
            <a:ext cx="5097200" cy="13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8113" y="2289960"/>
            <a:ext cx="3678676" cy="240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550775" y="200475"/>
            <a:ext cx="66780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da Automação e Extração</a:t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570916" y="663843"/>
            <a:ext cx="2795988" cy="0"/>
          </a:xfrm>
          <a:custGeom>
            <a:avLst/>
            <a:gdLst/>
            <a:ahLst/>
            <a:cxnLst/>
            <a:rect l="l" t="t" r="r" b="b"/>
            <a:pathLst>
              <a:path w="1764030" h="120000" extrusionOk="0">
                <a:moveTo>
                  <a:pt x="0" y="0"/>
                </a:moveTo>
                <a:lnTo>
                  <a:pt x="1764030" y="0"/>
                </a:lnTo>
              </a:path>
            </a:pathLst>
          </a:custGeom>
          <a:noFill/>
          <a:ln w="12625" cap="flat" cmpd="sng">
            <a:solidFill>
              <a:srgbClr val="A5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grpSp>
        <p:nvGrpSpPr>
          <p:cNvPr id="128" name="Google Shape;128;p22"/>
          <p:cNvGrpSpPr/>
          <p:nvPr/>
        </p:nvGrpSpPr>
        <p:grpSpPr>
          <a:xfrm>
            <a:off x="0" y="4895050"/>
            <a:ext cx="9134903" cy="240896"/>
            <a:chOff x="0" y="3088165"/>
            <a:chExt cx="5760075" cy="151975"/>
          </a:xfrm>
        </p:grpSpPr>
        <p:pic>
          <p:nvPicPr>
            <p:cNvPr id="129" name="Google Shape;12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088165"/>
              <a:ext cx="5760075" cy="151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2"/>
            <p:cNvSpPr/>
            <p:nvPr/>
          </p:nvSpPr>
          <p:spPr>
            <a:xfrm>
              <a:off x="0" y="320204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w="120000" h="38100" extrusionOk="0">
                  <a:moveTo>
                    <a:pt x="0" y="37958"/>
                  </a:moveTo>
                  <a:lnTo>
                    <a:pt x="0" y="0"/>
                  </a:lnTo>
                  <a:lnTo>
                    <a:pt x="0" y="37958"/>
                  </a:lnTo>
                  <a:close/>
                </a:path>
                <a:path w="120000" h="38100" extrusionOk="0">
                  <a:moveTo>
                    <a:pt x="0" y="0"/>
                  </a:moveTo>
                </a:path>
              </a:pathLst>
            </a:custGeom>
            <a:solidFill>
              <a:srgbClr val="1E0A0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/>
            </a:p>
          </p:txBody>
        </p:sp>
      </p:grpSp>
      <p:pic>
        <p:nvPicPr>
          <p:cNvPr id="131" name="Google Shape;13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6770" y="4314374"/>
            <a:ext cx="1402081" cy="45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>
            <a:spLocks noGrp="1"/>
          </p:cNvSpPr>
          <p:nvPr>
            <p:ph type="ftr" idx="11"/>
          </p:nvPr>
        </p:nvSpPr>
        <p:spPr>
          <a:xfrm>
            <a:off x="8189902" y="4954950"/>
            <a:ext cx="945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0" y="4838950"/>
            <a:ext cx="570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0;p23"/>
          <p:cNvSpPr txBox="1"/>
          <p:nvPr/>
        </p:nvSpPr>
        <p:spPr>
          <a:xfrm>
            <a:off x="467251" y="719944"/>
            <a:ext cx="4298050" cy="328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75" rIns="0" bIns="0" anchor="t" anchorCtr="0">
            <a:spAutoFit/>
          </a:bodyPr>
          <a:lstStyle/>
          <a:p>
            <a:pPr lvl="0" algn="just">
              <a:lnSpc>
                <a:spcPct val="200000"/>
              </a:lnSpc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Automação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desenvolvida em Python + </a:t>
            </a:r>
            <a:r>
              <a:rPr lang="pt-BR" sz="1300" dirty="0" err="1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Playwright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lvl="0" algn="just">
              <a:lnSpc>
                <a:spcPct val="200000"/>
              </a:lnSpc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Leitura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automática dos campos do formulário.</a:t>
            </a:r>
          </a:p>
          <a:p>
            <a:pPr lvl="0" algn="just">
              <a:lnSpc>
                <a:spcPct val="200000"/>
              </a:lnSpc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Extração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dos dados do 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usuário</a:t>
            </a:r>
          </a:p>
          <a:p>
            <a:pPr lvl="8" algn="just">
              <a:lnSpc>
                <a:spcPct val="200000"/>
              </a:lnSpc>
              <a:buClr>
                <a:srgbClr val="C00000"/>
              </a:buClr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- Nome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, Sobrenome, CPF, E-mail, 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Telefone,</a:t>
            </a:r>
          </a:p>
          <a:p>
            <a:pPr lvl="8" algn="just">
              <a:lnSpc>
                <a:spcPct val="200000"/>
              </a:lnSpc>
              <a:buClr>
                <a:srgbClr val="C00000"/>
              </a:buClr>
            </a:pP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Data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de Nascimento e 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Endereço</a:t>
            </a:r>
          </a:p>
          <a:p>
            <a:pPr lvl="0" algn="just">
              <a:lnSpc>
                <a:spcPct val="200000"/>
              </a:lnSpc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Organização e armazenamento em dicionário Python.</a:t>
            </a:r>
          </a:p>
          <a:p>
            <a:pPr lvl="0" algn="just">
              <a:lnSpc>
                <a:spcPct val="200000"/>
              </a:lnSpc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Validação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dos dados no console.</a:t>
            </a:r>
          </a:p>
          <a:p>
            <a:pPr lvl="0" algn="just">
              <a:lnSpc>
                <a:spcPct val="200000"/>
              </a:lnSpc>
            </a:pP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Dados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preparados para geração do documento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lang="pt-BR"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8" t="9484" r="16037" b="9919"/>
          <a:stretch/>
        </p:blipFill>
        <p:spPr>
          <a:xfrm>
            <a:off x="4681772" y="1028888"/>
            <a:ext cx="4263587" cy="2861709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550775" y="200475"/>
            <a:ext cx="66780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Geração de Documento e Envio de E-mail</a:t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570916" y="663843"/>
            <a:ext cx="2795988" cy="0"/>
          </a:xfrm>
          <a:custGeom>
            <a:avLst/>
            <a:gdLst/>
            <a:ahLst/>
            <a:cxnLst/>
            <a:rect l="l" t="t" r="r" b="b"/>
            <a:pathLst>
              <a:path w="1764030" h="120000" extrusionOk="0">
                <a:moveTo>
                  <a:pt x="0" y="0"/>
                </a:moveTo>
                <a:lnTo>
                  <a:pt x="1764030" y="0"/>
                </a:lnTo>
              </a:path>
            </a:pathLst>
          </a:custGeom>
          <a:noFill/>
          <a:ln w="12625" cap="flat" cmpd="sng">
            <a:solidFill>
              <a:srgbClr val="A5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40" name="Google Shape;140;p23"/>
          <p:cNvSpPr txBox="1"/>
          <p:nvPr/>
        </p:nvSpPr>
        <p:spPr>
          <a:xfrm>
            <a:off x="582100" y="1680463"/>
            <a:ext cx="7970700" cy="140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75" rIns="0" bIns="0" anchor="t" anchorCtr="0">
            <a:spAutoFit/>
          </a:bodyPr>
          <a:lstStyle/>
          <a:p>
            <a:pPr marL="0" lvl="0" indent="0" algn="just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Geração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da ficha de cadastro em Word;</a:t>
            </a:r>
            <a:endParaRPr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89000" lvl="0" indent="-285750" algn="just" rtl="0">
              <a:spcBef>
                <a:spcPts val="50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Wingdings" panose="05000000000000000000" pitchFamily="2" charset="2"/>
              <a:buChar char="§"/>
            </a:pP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Ficha_Cadastro_Portal_Fake.docx</a:t>
            </a:r>
            <a:endParaRPr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just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Envio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automatizado de e-mail;</a:t>
            </a:r>
            <a:endParaRPr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4400" lvl="0" indent="-311150" algn="just" rtl="0">
              <a:spcBef>
                <a:spcPts val="50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Wingdings" panose="05000000000000000000" pitchFamily="2" charset="2"/>
              <a:buChar char="§"/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Protocolo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SMTP da biblioteca </a:t>
            </a:r>
            <a:r>
              <a:rPr lang="pt-BR" sz="1300" dirty="0" err="1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smtplib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 do Python</a:t>
            </a:r>
            <a:endParaRPr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just" rtl="0">
              <a:spcBef>
                <a:spcPts val="500"/>
              </a:spcBef>
              <a:spcAft>
                <a:spcPts val="0"/>
              </a:spcAft>
              <a:buNone/>
            </a:pP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● Utilização 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do arquivo .</a:t>
            </a:r>
            <a:r>
              <a:rPr lang="pt-BR" sz="1300" dirty="0" err="1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env</a:t>
            </a:r>
            <a:r>
              <a:rPr lang="pt-BR" sz="1300" dirty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 para proteção das credenciais</a:t>
            </a:r>
            <a:r>
              <a:rPr lang="pt-BR" sz="1300" dirty="0" smtClean="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300" dirty="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0" y="4895050"/>
            <a:ext cx="9134903" cy="240896"/>
            <a:chOff x="0" y="3088165"/>
            <a:chExt cx="5760075" cy="151975"/>
          </a:xfrm>
        </p:grpSpPr>
        <p:pic>
          <p:nvPicPr>
            <p:cNvPr id="142" name="Google Shape;142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088165"/>
              <a:ext cx="5760075" cy="151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23"/>
            <p:cNvSpPr/>
            <p:nvPr/>
          </p:nvSpPr>
          <p:spPr>
            <a:xfrm>
              <a:off x="0" y="320204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w="120000" h="38100" extrusionOk="0">
                  <a:moveTo>
                    <a:pt x="0" y="37958"/>
                  </a:moveTo>
                  <a:lnTo>
                    <a:pt x="0" y="0"/>
                  </a:lnTo>
                  <a:lnTo>
                    <a:pt x="0" y="37958"/>
                  </a:lnTo>
                  <a:close/>
                </a:path>
                <a:path w="120000" h="38100" extrusionOk="0">
                  <a:moveTo>
                    <a:pt x="0" y="0"/>
                  </a:moveTo>
                </a:path>
              </a:pathLst>
            </a:custGeom>
            <a:solidFill>
              <a:srgbClr val="1E0A0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/>
            </a:p>
          </p:txBody>
        </p:sp>
      </p:grpSp>
      <p:pic>
        <p:nvPicPr>
          <p:cNvPr id="144" name="Google Shape;14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6770" y="4314374"/>
            <a:ext cx="1402081" cy="45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>
            <a:spLocks noGrp="1"/>
          </p:cNvSpPr>
          <p:nvPr>
            <p:ph type="ftr" idx="11"/>
          </p:nvPr>
        </p:nvSpPr>
        <p:spPr>
          <a:xfrm>
            <a:off x="8189902" y="4954950"/>
            <a:ext cx="945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0" y="4838950"/>
            <a:ext cx="570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550775" y="200475"/>
            <a:ext cx="66780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 e Versionamento</a:t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570916" y="663843"/>
            <a:ext cx="2795988" cy="0"/>
          </a:xfrm>
          <a:custGeom>
            <a:avLst/>
            <a:gdLst/>
            <a:ahLst/>
            <a:cxnLst/>
            <a:rect l="l" t="t" r="r" b="b"/>
            <a:pathLst>
              <a:path w="1764030" h="120000" extrusionOk="0">
                <a:moveTo>
                  <a:pt x="0" y="0"/>
                </a:moveTo>
                <a:lnTo>
                  <a:pt x="1764030" y="0"/>
                </a:lnTo>
              </a:path>
            </a:pathLst>
          </a:custGeom>
          <a:noFill/>
          <a:ln w="12625" cap="flat" cmpd="sng">
            <a:solidFill>
              <a:srgbClr val="A5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53" name="Google Shape;153;p24"/>
          <p:cNvSpPr txBox="1"/>
          <p:nvPr/>
        </p:nvSpPr>
        <p:spPr>
          <a:xfrm>
            <a:off x="582100" y="2250789"/>
            <a:ext cx="7970700" cy="18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75" rIns="0" bIns="0" anchor="t" anchorCtr="0">
            <a:spAutoFit/>
          </a:bodyPr>
          <a:lstStyle/>
          <a:p>
            <a:pPr marL="914400" lvl="0" indent="-311150" algn="just" rtl="0">
              <a:spcBef>
                <a:spcPts val="50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●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Branches utilizadas: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1" indent="-311150" algn="just" rtl="0">
              <a:spcBef>
                <a:spcPts val="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○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- main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1" indent="-311150" algn="just" rtl="0">
              <a:spcBef>
                <a:spcPts val="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○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- develop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1" indent="-311150" algn="just" rtl="0">
              <a:spcBef>
                <a:spcPts val="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○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- feature/extracao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1" indent="-311150" algn="just" rtl="0">
              <a:spcBef>
                <a:spcPts val="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○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- feature/documento-email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371600" lvl="1" indent="-311150" algn="just" rtl="0">
              <a:spcBef>
                <a:spcPts val="0"/>
              </a:spcBef>
              <a:spcAft>
                <a:spcPts val="0"/>
              </a:spcAft>
              <a:buClr>
                <a:srgbClr val="B7335C"/>
              </a:buClr>
              <a:buSzPts val="1300"/>
              <a:buFont typeface="Trebuchet MS"/>
              <a:buChar char="○"/>
            </a:pPr>
            <a:r>
              <a:rPr lang="pt-BR" sz="1300">
                <a:solidFill>
                  <a:srgbClr val="B7335C"/>
                </a:solidFill>
                <a:latin typeface="Trebuchet MS"/>
                <a:ea typeface="Trebuchet MS"/>
                <a:cs typeface="Trebuchet MS"/>
                <a:sym typeface="Trebuchet MS"/>
              </a:rPr>
              <a:t>- release/1.0</a:t>
            </a: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4400" lvl="0" indent="0" algn="just" rtl="0">
              <a:spcBef>
                <a:spcPts val="500"/>
              </a:spcBef>
              <a:spcAft>
                <a:spcPts val="0"/>
              </a:spcAft>
              <a:buNone/>
            </a:pP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just" rtl="0">
              <a:spcBef>
                <a:spcPts val="500"/>
              </a:spcBef>
              <a:spcAft>
                <a:spcPts val="0"/>
              </a:spcAft>
              <a:buNone/>
            </a:pPr>
            <a:endParaRPr sz="1300">
              <a:solidFill>
                <a:srgbClr val="B7335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4" name="Google Shape;154;p24"/>
          <p:cNvGrpSpPr/>
          <p:nvPr/>
        </p:nvGrpSpPr>
        <p:grpSpPr>
          <a:xfrm>
            <a:off x="0" y="4895050"/>
            <a:ext cx="9134903" cy="240896"/>
            <a:chOff x="0" y="3088165"/>
            <a:chExt cx="5760075" cy="151975"/>
          </a:xfrm>
        </p:grpSpPr>
        <p:pic>
          <p:nvPicPr>
            <p:cNvPr id="155" name="Google Shape;155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088165"/>
              <a:ext cx="5760075" cy="151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4"/>
            <p:cNvSpPr/>
            <p:nvPr/>
          </p:nvSpPr>
          <p:spPr>
            <a:xfrm>
              <a:off x="0" y="3202040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w="120000" h="38100" extrusionOk="0">
                  <a:moveTo>
                    <a:pt x="0" y="37958"/>
                  </a:moveTo>
                  <a:lnTo>
                    <a:pt x="0" y="0"/>
                  </a:lnTo>
                  <a:lnTo>
                    <a:pt x="0" y="37958"/>
                  </a:lnTo>
                  <a:close/>
                </a:path>
                <a:path w="120000" h="38100" extrusionOk="0">
                  <a:moveTo>
                    <a:pt x="0" y="0"/>
                  </a:moveTo>
                </a:path>
              </a:pathLst>
            </a:custGeom>
            <a:solidFill>
              <a:srgbClr val="1E0A0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/>
            </a:p>
          </p:txBody>
        </p:sp>
      </p:grpSp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6770" y="4314374"/>
            <a:ext cx="1402081" cy="45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>
            <a:spLocks noGrp="1"/>
          </p:cNvSpPr>
          <p:nvPr>
            <p:ph type="ftr" idx="11"/>
          </p:nvPr>
        </p:nvSpPr>
        <p:spPr>
          <a:xfrm>
            <a:off x="8189902" y="4954950"/>
            <a:ext cx="945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0" y="4838950"/>
            <a:ext cx="5709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8675" y="879527"/>
            <a:ext cx="5333199" cy="11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895050"/>
            <a:ext cx="9134902" cy="24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50775" y="470025"/>
            <a:ext cx="5744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5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 sz="1600"/>
          </a:p>
        </p:txBody>
      </p:sp>
      <p:sp>
        <p:nvSpPr>
          <p:cNvPr id="167" name="Google Shape;167;p25"/>
          <p:cNvSpPr/>
          <p:nvPr/>
        </p:nvSpPr>
        <p:spPr>
          <a:xfrm>
            <a:off x="570916" y="964681"/>
            <a:ext cx="2795988" cy="0"/>
          </a:xfrm>
          <a:custGeom>
            <a:avLst/>
            <a:gdLst/>
            <a:ahLst/>
            <a:cxnLst/>
            <a:rect l="l" t="t" r="r" b="b"/>
            <a:pathLst>
              <a:path w="1764030" h="120000" extrusionOk="0">
                <a:moveTo>
                  <a:pt x="0" y="0"/>
                </a:moveTo>
                <a:lnTo>
                  <a:pt x="1764030" y="0"/>
                </a:lnTo>
              </a:path>
            </a:pathLst>
          </a:custGeom>
          <a:noFill/>
          <a:ln w="12625" cap="flat" cmpd="sng">
            <a:solidFill>
              <a:srgbClr val="A500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6770" y="4314374"/>
            <a:ext cx="1402081" cy="45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>
            <a:spLocks noGrp="1"/>
          </p:cNvSpPr>
          <p:nvPr>
            <p:ph type="ftr" idx="11"/>
          </p:nvPr>
        </p:nvSpPr>
        <p:spPr>
          <a:xfrm>
            <a:off x="3328225" y="4924445"/>
            <a:ext cx="2967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de Apresentação — Projetos AX Academy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631600" y="1465376"/>
            <a:ext cx="73548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7335C"/>
                </a:solidFill>
                <a:latin typeface="Calibri"/>
                <a:ea typeface="Calibri"/>
                <a:cs typeface="Calibri"/>
                <a:sym typeface="Calibri"/>
              </a:rPr>
              <a:t>A implementação demonstrou a aplicação integrada de automação Web, geração de documentos e versionamento utilizando GitFlow. Entre as principais dificuldades destacam-se a identificação dos elementos da página, configuração do ambiente de e-mail e integração das funcionalidades</a:t>
            </a:r>
            <a:endParaRPr>
              <a:solidFill>
                <a:srgbClr val="B733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733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0" y="4838725"/>
            <a:ext cx="6513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07/08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 txBox="1">
            <a:spLocks noGrp="1"/>
          </p:cNvSpPr>
          <p:nvPr>
            <p:ph type="ftr" idx="11"/>
          </p:nvPr>
        </p:nvSpPr>
        <p:spPr>
          <a:xfrm>
            <a:off x="8189902" y="4954950"/>
            <a:ext cx="945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2" y="8"/>
            <a:ext cx="9121148" cy="513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4286" y="1371896"/>
            <a:ext cx="2405171" cy="85595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3761401" y="2635075"/>
            <a:ext cx="16212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Obrigado!</a:t>
            </a:r>
            <a:endParaRPr sz="22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2923225" y="3201625"/>
            <a:ext cx="37794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900" b="1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https://github.com/luanmaquin2/HyperAutomationPortalFake/tree/dev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0" y="4838725"/>
            <a:ext cx="6513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09/09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>
            <a:spLocks noGrp="1"/>
          </p:cNvSpPr>
          <p:nvPr>
            <p:ph type="ftr" idx="11"/>
          </p:nvPr>
        </p:nvSpPr>
        <p:spPr>
          <a:xfrm>
            <a:off x="8189902" y="4954950"/>
            <a:ext cx="9450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5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Luã Maquiné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301</Words>
  <Application>Microsoft Office PowerPoint</Application>
  <PresentationFormat>Apresentação na tela (16:9)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Wingdings</vt:lpstr>
      <vt:lpstr>Trebuchet MS</vt:lpstr>
      <vt:lpstr>Tahoma</vt:lpstr>
      <vt:lpstr>Calibri</vt:lpstr>
      <vt:lpstr>Simple Light</vt:lpstr>
      <vt:lpstr>Office Theme</vt:lpstr>
      <vt:lpstr>Desenvolvimento do Robô de Cadastro Versão 1.0 utilizando Draw.io, Python, Playwright, Git, GitHub e GitFlow </vt:lpstr>
      <vt:lpstr>Contextualização e Objetivo</vt:lpstr>
      <vt:lpstr>Modelagem do Processo - BPMN</vt:lpstr>
      <vt:lpstr>Desenvolvimento da Automação e Extração</vt:lpstr>
      <vt:lpstr>Geração de Documento e Envio de E-mail</vt:lpstr>
      <vt:lpstr>Organização e Versionamento</vt:lpstr>
      <vt:lpstr>Conclusão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do Robô de Cadastro Versão 1.0 utilizando Draw.io, Python, Playwright, Git, GitHub e GitFlow </dc:title>
  <cp:lastModifiedBy>Turma02</cp:lastModifiedBy>
  <cp:revision>3</cp:revision>
  <dcterms:modified xsi:type="dcterms:W3CDTF">2026-07-23T18:58:10Z</dcterms:modified>
</cp:coreProperties>
</file>