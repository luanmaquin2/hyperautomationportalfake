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Tahoma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gUlJAuOTY/ZV22GJeH9F+cwyBp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Tahoma-regular.fntdata"/><Relationship Id="rId14" Type="http://schemas.openxmlformats.org/officeDocument/2006/relationships/slide" Target="slides/slide8.xml"/><Relationship Id="rId17" Type="http://customschemas.google.com/relationships/presentationmetadata" Target="metadata"/><Relationship Id="rId16" Type="http://schemas.openxmlformats.org/officeDocument/2006/relationships/font" Target="fonts/Tahoma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7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  <a:noFill/>
          <a:ln>
            <a:noFill/>
          </a:ln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" name="Google Shape;177;p8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0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" type="body"/>
          </p:nvPr>
        </p:nvSpPr>
        <p:spPr>
          <a:xfrm>
            <a:off x="2170370" y="1702688"/>
            <a:ext cx="4794558" cy="134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78"/>
            <a:ext cx="9130277" cy="513569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1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3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" type="body"/>
          </p:nvPr>
        </p:nvSpPr>
        <p:spPr>
          <a:xfrm>
            <a:off x="467069" y="1307576"/>
            <a:ext cx="3272907" cy="2800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3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2" type="body"/>
          </p:nvPr>
        </p:nvSpPr>
        <p:spPr>
          <a:xfrm>
            <a:off x="4790870" y="1299651"/>
            <a:ext cx="3709967" cy="3430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3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4"/>
          <p:cNvSpPr txBox="1"/>
          <p:nvPr>
            <p:ph type="ctrTitle"/>
          </p:nvPr>
        </p:nvSpPr>
        <p:spPr>
          <a:xfrm>
            <a:off x="550775" y="137906"/>
            <a:ext cx="3032223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" type="subTitle"/>
          </p:nvPr>
        </p:nvSpPr>
        <p:spPr>
          <a:xfrm>
            <a:off x="1371600" y="2880360"/>
            <a:ext cx="6400800" cy="12858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7" name="Google Shape;47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51" name="Google Shape;5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4" name="Google Shape;5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8" name="Google Shape;58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" name="Google Shape;59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6" name="Google Shape;66;p2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0" name="Google Shape;7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4" name="Google Shape;74;p2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5" name="Google Shape;75;p2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2" name="Google Shape;82;p2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9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78"/>
            <a:ext cx="9130314" cy="513569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9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1" i="0" sz="1900" u="none" cap="none" strike="noStrike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" type="body"/>
          </p:nvPr>
        </p:nvSpPr>
        <p:spPr>
          <a:xfrm>
            <a:off x="2170370" y="1702688"/>
            <a:ext cx="4794558" cy="134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b="0" i="0" sz="2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9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hyperlink" Target="https://github.com/luanmaquin2/HyperAutomationPortalFake/tree/dev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38" y="3858"/>
            <a:ext cx="9130315" cy="513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1620" y="974446"/>
            <a:ext cx="1924073" cy="68474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>
            <p:ph type="title"/>
          </p:nvPr>
        </p:nvSpPr>
        <p:spPr>
          <a:xfrm>
            <a:off x="1051475" y="1692500"/>
            <a:ext cx="7397100" cy="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71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Desenvolvimento do Robô de Cadastro Versão 1.0 utilizando</a:t>
            </a:r>
            <a:endParaRPr>
              <a:solidFill>
                <a:srgbClr val="FFFFFF"/>
              </a:solidFill>
            </a:endParaRPr>
          </a:p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Draw.io, Python, Playwright, Git, GitHub e GitFlow</a:t>
            </a:r>
            <a:endParaRPr>
              <a:solidFill>
                <a:srgbClr val="FFFFFF"/>
              </a:solidFill>
            </a:endParaRPr>
          </a:p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sz="2200">
              <a:solidFill>
                <a:srgbClr val="FFFFFF"/>
              </a:solidFill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051475" y="2612500"/>
            <a:ext cx="33582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8125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pt-BR" sz="1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Disciplina: Hyperautomation</a:t>
            </a:r>
            <a:endParaRPr b="0" i="0" sz="17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51475" y="3112678"/>
            <a:ext cx="3456300" cy="1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0150">
            <a:spAutoFit/>
          </a:bodyPr>
          <a:lstStyle/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Daniele Greice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Éricle Costa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Luã Maury Maquiné da Silva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Luan Pinheiro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Professor(a): Moisés Levy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Mentor(a): Vitor Bremgartner</a:t>
            </a:r>
            <a:endParaRPr b="0" i="0" sz="1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AX Academy </a:t>
            </a:r>
            <a:r>
              <a:rPr b="0" i="1" lang="pt-BR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· </a:t>
            </a:r>
            <a:r>
              <a:rPr b="0" i="0" lang="pt-BR" sz="12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Digital Transformation Julho/2026</a:t>
            </a:r>
            <a:endParaRPr b="0" i="0" sz="12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>
            <p:ph type="title"/>
          </p:nvPr>
        </p:nvSpPr>
        <p:spPr>
          <a:xfrm>
            <a:off x="1165658" y="321646"/>
            <a:ext cx="30474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 sz="2700"/>
              <a:t>Contextualização e Objetivo</a:t>
            </a:r>
            <a:endParaRPr sz="2700"/>
          </a:p>
        </p:txBody>
      </p:sp>
      <p:sp>
        <p:nvSpPr>
          <p:cNvPr id="100" name="Google Shape;100;p2"/>
          <p:cNvSpPr/>
          <p:nvPr/>
        </p:nvSpPr>
        <p:spPr>
          <a:xfrm>
            <a:off x="1165649" y="1257428"/>
            <a:ext cx="2282685" cy="0"/>
          </a:xfrm>
          <a:custGeom>
            <a:rect b="b" l="l" r="r" t="t"/>
            <a:pathLst>
              <a:path extrusionOk="0" h="120000" w="1440180">
                <a:moveTo>
                  <a:pt x="0" y="0"/>
                </a:moveTo>
                <a:lnTo>
                  <a:pt x="1440002" y="0"/>
                </a:lnTo>
              </a:path>
            </a:pathLst>
          </a:custGeom>
          <a:noFill/>
          <a:ln cap="flat" cmpd="sng" w="12625">
            <a:solidFill>
              <a:srgbClr val="DB99A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" name="Google Shape;101;p2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02" name="Google Shape;102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3" name="Google Shape;103;p2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" name="Google Shape;104;p2"/>
          <p:cNvSpPr txBox="1"/>
          <p:nvPr>
            <p:ph idx="11" type="ftr"/>
          </p:nvPr>
        </p:nvSpPr>
        <p:spPr>
          <a:xfrm>
            <a:off x="7275901" y="4933900"/>
            <a:ext cx="15222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0" y="4838950"/>
            <a:ext cx="6594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1226750" y="1641850"/>
            <a:ext cx="6759600" cy="27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pt-BR" sz="1700" u="none" cap="none" strike="noStrike">
                <a:solidFill>
                  <a:srgbClr val="B7335C"/>
                </a:solidFill>
                <a:latin typeface="Calibri"/>
                <a:ea typeface="Calibri"/>
                <a:cs typeface="Calibri"/>
                <a:sym typeface="Calibri"/>
              </a:rPr>
              <a:t>A automação tem como objetivo acessar o Portal Fake, abrir a tela de cadastro, extrair automaticamente as informações do formulário, gerar uma ficha de cadastro em formato Word e enviar essa ficha por e-mail ao cliente, reduzindo atividades manuais e padronizando o processo.</a:t>
            </a:r>
            <a:endParaRPr b="0" i="0" sz="1700" u="none" cap="none" strike="noStrike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Modelagem do Processo - BPMN</a:t>
            </a:r>
            <a:endParaRPr/>
          </a:p>
        </p:txBody>
      </p:sp>
      <p:sp>
        <p:nvSpPr>
          <p:cNvPr id="112" name="Google Shape;112;p3"/>
          <p:cNvSpPr/>
          <p:nvPr/>
        </p:nvSpPr>
        <p:spPr>
          <a:xfrm>
            <a:off x="570916" y="663843"/>
            <a:ext cx="2797581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" name="Google Shape;113;p3"/>
          <p:cNvGrpSpPr/>
          <p:nvPr/>
        </p:nvGrpSpPr>
        <p:grpSpPr>
          <a:xfrm>
            <a:off x="0" y="4895050"/>
            <a:ext cx="9134901" cy="240896"/>
            <a:chOff x="0" y="3088165"/>
            <a:chExt cx="5760074" cy="151975"/>
          </a:xfrm>
        </p:grpSpPr>
        <p:pic>
          <p:nvPicPr>
            <p:cNvPr id="114" name="Google Shape;114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4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" name="Google Shape;115;p3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78" cy="4564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3"/>
          <p:cNvSpPr txBox="1"/>
          <p:nvPr>
            <p:ph idx="11" type="ftr"/>
          </p:nvPr>
        </p:nvSpPr>
        <p:spPr>
          <a:xfrm>
            <a:off x="8076802" y="4933900"/>
            <a:ext cx="10581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3200" y="4838950"/>
            <a:ext cx="6438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23400" y="805774"/>
            <a:ext cx="5097200" cy="134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728113" y="2289960"/>
            <a:ext cx="3678676" cy="2407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Desenvolvimento da Automação e Extração</a:t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4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28" name="Google Shape;128;p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9" name="Google Shape;129;p4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30" name="Google Shape;130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467251" y="719944"/>
            <a:ext cx="4298050" cy="32893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Automação desenvolvida em Python + Playwright.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Leitura automática dos campos do formulário.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Extração dos dados do usuário</a:t>
            </a:r>
            <a:endParaRPr/>
          </a:p>
          <a:p>
            <a:pPr indent="0" lvl="8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      - Nome, Sobrenome, CPF, E-mail, Telefone,</a:t>
            </a:r>
            <a:endParaRPr/>
          </a:p>
          <a:p>
            <a:pPr indent="0" lvl="8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Data de Nascimento e Endereço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Organização e armazenamento em dicionário Python.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Validação dos dados no console.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Dados preparados para geração do documento.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34" name="Google Shape;134;p4"/>
          <p:cNvPicPr preferRelativeResize="0"/>
          <p:nvPr/>
        </p:nvPicPr>
        <p:blipFill rotWithShape="1">
          <a:blip r:embed="rId5">
            <a:alphaModFix/>
          </a:blip>
          <a:srcRect b="9919" l="16418" r="16037" t="9484"/>
          <a:stretch/>
        </p:blipFill>
        <p:spPr>
          <a:xfrm>
            <a:off x="4681772" y="1028888"/>
            <a:ext cx="4263587" cy="28617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Geração de Documento e Envio de E-mail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582100" y="1680475"/>
            <a:ext cx="4547700" cy="134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Geração da ficha de cadastro em Word;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0" marL="88900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Noto Sans Symbols"/>
              <a:buChar char="▪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Ficha_Cadastro_Portal_Fake.docx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Envio automatizado </a:t>
            </a: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por</a:t>
            </a: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 e-mail;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0" marL="91440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Noto Sans Symbols"/>
              <a:buChar char="▪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Protocolo SMTP da biblioteca smtplib do Python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 Utilização do arquivo .env para proteção das credenciais.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42" name="Google Shape;142;p5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43" name="Google Shape;143;p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4" name="Google Shape;144;p5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45" name="Google Shape;14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5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47" name="Google Shape;147;p5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5" title="Screenshot_2026-07-21-16-55-03-470_com.google.android.gm.jpg"/>
          <p:cNvPicPr preferRelativeResize="0"/>
          <p:nvPr/>
        </p:nvPicPr>
        <p:blipFill rotWithShape="1">
          <a:blip r:embed="rId5">
            <a:alphaModFix/>
          </a:blip>
          <a:srcRect b="21898" l="0" r="0" t="11706"/>
          <a:stretch/>
        </p:blipFill>
        <p:spPr>
          <a:xfrm>
            <a:off x="5906925" y="316675"/>
            <a:ext cx="2523599" cy="372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Organização e Versionamento</a:t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"/>
          <p:cNvSpPr txBox="1"/>
          <p:nvPr/>
        </p:nvSpPr>
        <p:spPr>
          <a:xfrm>
            <a:off x="582100" y="2250789"/>
            <a:ext cx="7970700" cy="18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-311150" lvl="0" marL="91440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●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Branches utilizadas: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main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develop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feature/extracao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feature/documento-email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b="0" i="0" lang="pt-BR" sz="1300" u="none" cap="none" strike="noStrike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release/1.0</a:t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91440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56" name="Google Shape;156;p6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57" name="Google Shape;157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8" name="Google Shape;158;p6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t/>
              </a:r>
              <a:endParaRPr b="0" i="0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59" name="Google Shape;15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61" name="Google Shape;161;p6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18675" y="879527"/>
            <a:ext cx="5333199" cy="112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895050"/>
            <a:ext cx="9134902" cy="24066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7"/>
          <p:cNvSpPr txBox="1"/>
          <p:nvPr>
            <p:ph type="title"/>
          </p:nvPr>
        </p:nvSpPr>
        <p:spPr>
          <a:xfrm>
            <a:off x="550775" y="470025"/>
            <a:ext cx="5744400" cy="3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15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200"/>
              <a:buNone/>
            </a:pPr>
            <a:r>
              <a:rPr lang="pt-BR"/>
              <a:t>Conclusão</a:t>
            </a:r>
            <a:endParaRPr sz="1600"/>
          </a:p>
        </p:txBody>
      </p:sp>
      <p:sp>
        <p:nvSpPr>
          <p:cNvPr id="169" name="Google Shape;169;p7"/>
          <p:cNvSpPr/>
          <p:nvPr/>
        </p:nvSpPr>
        <p:spPr>
          <a:xfrm>
            <a:off x="570916" y="964681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7"/>
          <p:cNvSpPr txBox="1"/>
          <p:nvPr>
            <p:ph idx="11" type="ftr"/>
          </p:nvPr>
        </p:nvSpPr>
        <p:spPr>
          <a:xfrm>
            <a:off x="3328225" y="4924445"/>
            <a:ext cx="2967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Modelo de Apresentação — Projetos AX Academy</a:t>
            </a:r>
            <a:endParaRPr/>
          </a:p>
        </p:txBody>
      </p:sp>
      <p:sp>
        <p:nvSpPr>
          <p:cNvPr id="172" name="Google Shape;172;p7"/>
          <p:cNvSpPr txBox="1"/>
          <p:nvPr/>
        </p:nvSpPr>
        <p:spPr>
          <a:xfrm>
            <a:off x="631600" y="1465376"/>
            <a:ext cx="7354800" cy="29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B7335C"/>
                </a:solidFill>
                <a:latin typeface="Calibri"/>
                <a:ea typeface="Calibri"/>
                <a:cs typeface="Calibri"/>
                <a:sym typeface="Calibri"/>
              </a:rPr>
              <a:t>A implementação demonstrou a aplicação integrada de automação Web, geração de documentos e versionamento utilizando GitFlow. Entre as principais dificuldades destacam-se a identificação dos elementos da página, configuração do ambiente de e-mail e integração das funcionalidades</a:t>
            </a:r>
            <a:endParaRPr b="0" i="0" sz="1400" u="none" cap="none" strike="noStrike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 txBox="1"/>
          <p:nvPr/>
        </p:nvSpPr>
        <p:spPr>
          <a:xfrm>
            <a:off x="0" y="4838725"/>
            <a:ext cx="6513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07/08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2" y="8"/>
            <a:ext cx="9121148" cy="513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4286" y="1371896"/>
            <a:ext cx="2405171" cy="855953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8"/>
          <p:cNvSpPr txBox="1"/>
          <p:nvPr/>
        </p:nvSpPr>
        <p:spPr>
          <a:xfrm>
            <a:off x="3761401" y="2635075"/>
            <a:ext cx="1621200" cy="8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71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pt-BR" sz="2200" u="none" cap="none" strike="noStrik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Obrigado!</a:t>
            </a:r>
            <a:endParaRPr b="1" i="0" sz="2200" u="none" cap="none" strike="noStrike">
              <a:solidFill>
                <a:srgbClr val="FFFF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1" i="0" sz="900" u="none" cap="none" strike="noStrike">
              <a:solidFill>
                <a:srgbClr val="FFFF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2923225" y="3201625"/>
            <a:ext cx="37794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b="1" i="0" lang="pt-BR" sz="900" u="sng" cap="none" strike="noStrike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5"/>
              </a:rPr>
              <a:t>https://github.com/luanmaquin2/HyperAutomationPortalFake/tree/dev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0" y="4838725"/>
            <a:ext cx="6513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09/09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/>
              <a:t>Luã Maquiné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