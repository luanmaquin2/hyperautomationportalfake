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  <p:sldMasterId id="214748366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Tahoma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Tahoma-regular.fntdata"/><Relationship Id="rId14" Type="http://schemas.openxmlformats.org/officeDocument/2006/relationships/slide" Target="slides/slide8.xml"/><Relationship Id="rId16" Type="http://schemas.openxmlformats.org/officeDocument/2006/relationships/font" Target="fonts/Tahoma-bold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9707a0020e_2_36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g39707a0020e_2_36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707a0020e_2_51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g39707a0020e_2_51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9707a0020e_2_60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g39707a0020e_2_60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4f89ee54e_0_7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e4f89ee54e_0_7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59dd023fa_0_15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g3f59dd023fa_0_15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59dd023fa_0_30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g3f59dd023fa_0_30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4f89ee54e_0_50:notes"/>
          <p:cNvSpPr txBox="1"/>
          <p:nvPr>
            <p:ph idx="1" type="body"/>
          </p:nvPr>
        </p:nvSpPr>
        <p:spPr>
          <a:xfrm>
            <a:off x="685794" y="4343389"/>
            <a:ext cx="5486400" cy="4114800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g3e4f89ee54e_0_50:notes"/>
          <p:cNvSpPr/>
          <p:nvPr>
            <p:ph idx="2" type="sldImg"/>
          </p:nvPr>
        </p:nvSpPr>
        <p:spPr>
          <a:xfrm>
            <a:off x="1142099" y="685761"/>
            <a:ext cx="45744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707a0020e_2_1303:notes"/>
          <p:cNvSpPr txBox="1"/>
          <p:nvPr>
            <p:ph idx="1" type="body"/>
          </p:nvPr>
        </p:nvSpPr>
        <p:spPr>
          <a:xfrm>
            <a:off x="685794" y="4343389"/>
            <a:ext cx="5486382" cy="4114779"/>
          </a:xfrm>
          <a:prstGeom prst="rect">
            <a:avLst/>
          </a:prstGeom>
        </p:spPr>
        <p:txBody>
          <a:bodyPr anchorCtr="0" anchor="t" bIns="158375" lIns="158375" spcFirstLastPara="1" rIns="158375" wrap="square" tIns="1583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g39707a0020e_2_1303:notes"/>
          <p:cNvSpPr/>
          <p:nvPr>
            <p:ph idx="2" type="sldImg"/>
          </p:nvPr>
        </p:nvSpPr>
        <p:spPr>
          <a:xfrm>
            <a:off x="1142099" y="685761"/>
            <a:ext cx="4574456" cy="3428947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" type="body"/>
          </p:nvPr>
        </p:nvSpPr>
        <p:spPr>
          <a:xfrm>
            <a:off x="2170370" y="1702688"/>
            <a:ext cx="4794558" cy="134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78"/>
            <a:ext cx="9130277" cy="513569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6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7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" type="body"/>
          </p:nvPr>
        </p:nvSpPr>
        <p:spPr>
          <a:xfrm>
            <a:off x="467069" y="1307576"/>
            <a:ext cx="3272907" cy="28002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3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2" type="body"/>
          </p:nvPr>
        </p:nvSpPr>
        <p:spPr>
          <a:xfrm>
            <a:off x="4790870" y="1299651"/>
            <a:ext cx="3709967" cy="34303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3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8"/>
          <p:cNvSpPr txBox="1"/>
          <p:nvPr>
            <p:ph type="ctrTitle"/>
          </p:nvPr>
        </p:nvSpPr>
        <p:spPr>
          <a:xfrm>
            <a:off x="550775" y="137906"/>
            <a:ext cx="3032223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1371600" y="2880360"/>
            <a:ext cx="6400800" cy="12858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78"/>
            <a:ext cx="9130314" cy="513569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/>
          <p:nvPr>
            <p:ph type="title"/>
          </p:nvPr>
        </p:nvSpPr>
        <p:spPr>
          <a:xfrm>
            <a:off x="550775" y="137906"/>
            <a:ext cx="3529705" cy="6844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900" u="none" cap="none" strike="noStrike">
                <a:solidFill>
                  <a:srgbClr val="A50033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9pPr>
          </a:lstStyle>
          <a:p/>
        </p:txBody>
      </p:sp>
      <p:sp>
        <p:nvSpPr>
          <p:cNvPr id="53" name="Google Shape;53;p13"/>
          <p:cNvSpPr txBox="1"/>
          <p:nvPr>
            <p:ph idx="1" type="body"/>
          </p:nvPr>
        </p:nvSpPr>
        <p:spPr>
          <a:xfrm>
            <a:off x="2170370" y="1702688"/>
            <a:ext cx="4794558" cy="13477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9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328214" y="4876371"/>
            <a:ext cx="2479353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9pPr>
          </a:lstStyle>
          <a:p/>
        </p:txBody>
      </p:sp>
      <p:sp>
        <p:nvSpPr>
          <p:cNvPr id="55" name="Google Shape;55;p13"/>
          <p:cNvSpPr txBox="1"/>
          <p:nvPr>
            <p:ph idx="10" type="dt"/>
          </p:nvPr>
        </p:nvSpPr>
        <p:spPr>
          <a:xfrm>
            <a:off x="7211333" y="4899844"/>
            <a:ext cx="1671700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None/>
              <a:defRPr sz="2900"/>
            </a:lvl9pPr>
          </a:lstStyle>
          <a:p/>
        </p:txBody>
      </p:sp>
      <p:sp>
        <p:nvSpPr>
          <p:cNvPr id="56" name="Google Shape;56;p13"/>
          <p:cNvSpPr txBox="1"/>
          <p:nvPr>
            <p:ph idx="12" type="sldNum"/>
          </p:nvPr>
        </p:nvSpPr>
        <p:spPr>
          <a:xfrm>
            <a:off x="212083" y="4890100"/>
            <a:ext cx="366566" cy="1801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63500">
              <a:lnSpc>
                <a:spcPct val="100000"/>
              </a:lnSpc>
              <a:spcBef>
                <a:spcPts val="0"/>
              </a:spcBef>
              <a:buNone/>
              <a:defRPr b="0" i="0" sz="1000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635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r>
              <a:rPr lang="pt-BR"/>
              <a:t>/38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hyperlink" Target="https://github.com/luanmaquin2/HyperAutomationPortalFake/tree/dev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38" y="3858"/>
            <a:ext cx="9130315" cy="513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71620" y="974446"/>
            <a:ext cx="1924073" cy="68474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9"/>
          <p:cNvSpPr txBox="1"/>
          <p:nvPr>
            <p:ph type="title"/>
          </p:nvPr>
        </p:nvSpPr>
        <p:spPr>
          <a:xfrm>
            <a:off x="1051475" y="1692500"/>
            <a:ext cx="7397100" cy="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7150">
            <a:spAutoFit/>
          </a:bodyPr>
          <a:lstStyle/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Desenvolvimento do Robô de Cadastro Versão 1.0 utilizando</a:t>
            </a:r>
            <a:endParaRPr>
              <a:solidFill>
                <a:srgbClr val="FFFFFF"/>
              </a:solidFill>
            </a:endParaRPr>
          </a:p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>
                <a:solidFill>
                  <a:srgbClr val="FFFFFF"/>
                </a:solidFill>
              </a:rPr>
              <a:t>Draw.io, Python, Playwright, Git, GitHub e GitFlow</a:t>
            </a:r>
            <a:endParaRPr>
              <a:solidFill>
                <a:srgbClr val="FFFFFF"/>
              </a:solidFill>
            </a:endParaRPr>
          </a:p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FFFFFF"/>
              </a:solidFill>
            </a:endParaRPr>
          </a:p>
        </p:txBody>
      </p:sp>
      <p:sp>
        <p:nvSpPr>
          <p:cNvPr id="93" name="Google Shape;93;p19"/>
          <p:cNvSpPr txBox="1"/>
          <p:nvPr/>
        </p:nvSpPr>
        <p:spPr>
          <a:xfrm>
            <a:off x="1051475" y="2612500"/>
            <a:ext cx="3358200" cy="27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8125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Disciplina: Hyperautomation</a:t>
            </a:r>
            <a:endParaRPr sz="17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94" name="Google Shape;94;p19"/>
          <p:cNvSpPr txBox="1"/>
          <p:nvPr/>
        </p:nvSpPr>
        <p:spPr>
          <a:xfrm>
            <a:off x="1051475" y="3112678"/>
            <a:ext cx="3456300" cy="1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0150">
            <a:spAutoFit/>
          </a:bodyPr>
          <a:lstStyle/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Daniele Greice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Éricle Costa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Luã Maury Maquiné da Silva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Luan Pinheiro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Professor(a): Moisés Levy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Mentor(a): Vitor </a:t>
            </a: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Bremgartner</a:t>
            </a:r>
            <a:endParaRPr sz="1200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25400" marR="12700" rtl="0" algn="l">
              <a:lnSpc>
                <a:spcPct val="136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AX Academy </a:t>
            </a:r>
            <a:r>
              <a:rPr i="1" lang="pt-BR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· </a:t>
            </a: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Digital </a:t>
            </a: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</a:t>
            </a:r>
            <a:r>
              <a:rPr lang="pt-BR" sz="12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ransformation Julho/2026</a:t>
            </a:r>
            <a:endParaRPr sz="1200"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</p:cSld>
  <p:clrMapOvr>
    <a:masterClrMapping/>
  </p:clrMapOvr>
  <p:transition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1165658" y="321646"/>
            <a:ext cx="30474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41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700"/>
              <a:t>Contextualização e Objetivo</a:t>
            </a:r>
            <a:endParaRPr sz="2700"/>
          </a:p>
        </p:txBody>
      </p:sp>
      <p:sp>
        <p:nvSpPr>
          <p:cNvPr id="100" name="Google Shape;100;p20"/>
          <p:cNvSpPr/>
          <p:nvPr/>
        </p:nvSpPr>
        <p:spPr>
          <a:xfrm>
            <a:off x="1165649" y="1257428"/>
            <a:ext cx="2282685" cy="0"/>
          </a:xfrm>
          <a:custGeom>
            <a:rect b="b" l="l" r="r" t="t"/>
            <a:pathLst>
              <a:path extrusionOk="0" h="120000" w="1440180">
                <a:moveTo>
                  <a:pt x="0" y="0"/>
                </a:moveTo>
                <a:lnTo>
                  <a:pt x="1440002" y="0"/>
                </a:lnTo>
              </a:path>
            </a:pathLst>
          </a:custGeom>
          <a:noFill/>
          <a:ln cap="flat" cmpd="sng" w="12625">
            <a:solidFill>
              <a:srgbClr val="DB99A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grpSp>
        <p:nvGrpSpPr>
          <p:cNvPr id="101" name="Google Shape;101;p20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02" name="Google Shape;102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3" name="Google Shape;103;p20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200"/>
            </a:p>
          </p:txBody>
        </p:sp>
      </p:grpSp>
      <p:sp>
        <p:nvSpPr>
          <p:cNvPr id="104" name="Google Shape;104;p20"/>
          <p:cNvSpPr txBox="1"/>
          <p:nvPr>
            <p:ph idx="11" type="ftr"/>
          </p:nvPr>
        </p:nvSpPr>
        <p:spPr>
          <a:xfrm>
            <a:off x="7275901" y="4933900"/>
            <a:ext cx="15222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05" name="Google Shape;105;p20"/>
          <p:cNvSpPr txBox="1"/>
          <p:nvPr/>
        </p:nvSpPr>
        <p:spPr>
          <a:xfrm>
            <a:off x="0" y="4838950"/>
            <a:ext cx="6594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02/08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0"/>
          <p:cNvSpPr txBox="1"/>
          <p:nvPr/>
        </p:nvSpPr>
        <p:spPr>
          <a:xfrm>
            <a:off x="1226750" y="1641850"/>
            <a:ext cx="6759600" cy="27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B7335C"/>
                </a:solidFill>
                <a:latin typeface="Calibri"/>
                <a:ea typeface="Calibri"/>
                <a:cs typeface="Calibri"/>
                <a:sym typeface="Calibri"/>
              </a:rPr>
              <a:t>A automação tem como objetivo acessar o Portal Fake, abrir a tela de cadastro, extrair automaticamente as informações do formulário, gerar uma ficha de cadastro em formato Word e enviar essa ficha por e-mail ao cliente, reduzindo atividades manuais e padronizando o processo.</a:t>
            </a:r>
            <a:endParaRPr sz="1700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1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Modelagem do Processo - BPMN</a:t>
            </a:r>
            <a:endParaRPr/>
          </a:p>
        </p:txBody>
      </p:sp>
      <p:sp>
        <p:nvSpPr>
          <p:cNvPr id="112" name="Google Shape;112;p21"/>
          <p:cNvSpPr/>
          <p:nvPr/>
        </p:nvSpPr>
        <p:spPr>
          <a:xfrm>
            <a:off x="570916" y="663843"/>
            <a:ext cx="2797581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grpSp>
        <p:nvGrpSpPr>
          <p:cNvPr id="113" name="Google Shape;113;p21"/>
          <p:cNvGrpSpPr/>
          <p:nvPr/>
        </p:nvGrpSpPr>
        <p:grpSpPr>
          <a:xfrm>
            <a:off x="0" y="4895050"/>
            <a:ext cx="9134901" cy="240896"/>
            <a:chOff x="0" y="3088165"/>
            <a:chExt cx="5760074" cy="151975"/>
          </a:xfrm>
        </p:grpSpPr>
        <p:pic>
          <p:nvPicPr>
            <p:cNvPr id="114" name="Google Shape;11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4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" name="Google Shape;115;p21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200"/>
            </a:p>
          </p:txBody>
        </p:sp>
      </p:grpSp>
      <p:pic>
        <p:nvPicPr>
          <p:cNvPr id="116" name="Google Shape;11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78" cy="4564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1"/>
          <p:cNvSpPr txBox="1"/>
          <p:nvPr>
            <p:ph idx="11" type="ftr"/>
          </p:nvPr>
        </p:nvSpPr>
        <p:spPr>
          <a:xfrm>
            <a:off x="8076802" y="4933900"/>
            <a:ext cx="10581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18" name="Google Shape;118;p21"/>
          <p:cNvSpPr txBox="1"/>
          <p:nvPr/>
        </p:nvSpPr>
        <p:spPr>
          <a:xfrm>
            <a:off x="3200" y="4838950"/>
            <a:ext cx="6438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23400" y="805774"/>
            <a:ext cx="5097200" cy="134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728113" y="2289960"/>
            <a:ext cx="3678676" cy="2407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Desenvolvimento da Automação e Extração</a:t>
            </a:r>
            <a:endParaRPr/>
          </a:p>
        </p:txBody>
      </p:sp>
      <p:sp>
        <p:nvSpPr>
          <p:cNvPr id="126" name="Google Shape;126;p22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127" name="Google Shape;127;p22"/>
          <p:cNvSpPr txBox="1"/>
          <p:nvPr/>
        </p:nvSpPr>
        <p:spPr>
          <a:xfrm>
            <a:off x="582100" y="1680463"/>
            <a:ext cx="7970700" cy="161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O robô foi desenvolvido em Python utilizando Playwright para navegação automática. A solução identifica os campos do formulário, extrai Nome, Sobrenome, CPF, E-mail, Telefone, Data de Nascimento e Endereço, organiza essas informações e as disponibiliza para geração do documento.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Os valores extraídos são armazenados em um dicionário Python e apresentados no console, permitindo verificar que a coleta dos dados foi realizada corretamente.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Se o professor solicitar evidências da execução, você também pode incluir a imagem tela_cadastro.png e um print da saída do terminal com os dados extraídos como anexos do relatório.</a:t>
            </a:r>
            <a:endParaRPr sz="16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29" name="Google Shape;129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0" name="Google Shape;130;p22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200"/>
            </a:p>
          </p:txBody>
        </p:sp>
      </p:grpSp>
      <p:pic>
        <p:nvPicPr>
          <p:cNvPr id="131" name="Google Shape;131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2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33" name="Google Shape;133;p22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Geração de Documento e Envio de E-mail</a:t>
            </a:r>
            <a:endParaRPr/>
          </a:p>
        </p:txBody>
      </p:sp>
      <p:sp>
        <p:nvSpPr>
          <p:cNvPr id="139" name="Google Shape;139;p23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140" name="Google Shape;140;p23"/>
          <p:cNvSpPr txBox="1"/>
          <p:nvPr/>
        </p:nvSpPr>
        <p:spPr>
          <a:xfrm>
            <a:off x="582100" y="1680463"/>
            <a:ext cx="7970700" cy="187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	Geração da ficha de cadastro em Word;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0" marL="914400" rtl="0" algn="just"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●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Ficha_Cadastro_Portal_Fake.docx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	Envio automatizado de e-mail;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0" marL="914400" rtl="0" algn="just"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●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protocolo SMTP da biblioteca smtplib do Python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●	Utilização do arquivo .env para proteção das credenciais.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0" marL="914400" rtl="0" algn="just"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●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arquivo .env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41" name="Google Shape;141;p23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42" name="Google Shape;142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3" name="Google Shape;143;p23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200"/>
            </a:p>
          </p:txBody>
        </p:sp>
      </p:grpSp>
      <p:pic>
        <p:nvPicPr>
          <p:cNvPr id="144" name="Google Shape;144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46" name="Google Shape;146;p23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05/08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4"/>
          <p:cNvSpPr txBox="1"/>
          <p:nvPr>
            <p:ph type="title"/>
          </p:nvPr>
        </p:nvSpPr>
        <p:spPr>
          <a:xfrm>
            <a:off x="550775" y="200475"/>
            <a:ext cx="6678000" cy="3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910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Organização e Versionamento</a:t>
            </a:r>
            <a:endParaRPr/>
          </a:p>
        </p:txBody>
      </p:sp>
      <p:sp>
        <p:nvSpPr>
          <p:cNvPr id="152" name="Google Shape;152;p24"/>
          <p:cNvSpPr/>
          <p:nvPr/>
        </p:nvSpPr>
        <p:spPr>
          <a:xfrm>
            <a:off x="570916" y="663843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153" name="Google Shape;153;p24"/>
          <p:cNvSpPr txBox="1"/>
          <p:nvPr/>
        </p:nvSpPr>
        <p:spPr>
          <a:xfrm>
            <a:off x="582100" y="2250789"/>
            <a:ext cx="7970700" cy="18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7575">
            <a:spAutoFit/>
          </a:bodyPr>
          <a:lstStyle/>
          <a:p>
            <a:pPr indent="-311150" lvl="0" marL="914400" rtl="0" algn="just">
              <a:spcBef>
                <a:spcPts val="50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●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Branches utilizadas: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rtl="0" algn="just"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main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rtl="0" algn="just"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develop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rtl="0" algn="just"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feature/extracao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rtl="0" algn="just"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feature/documento-email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1150" lvl="1" marL="1371600" rtl="0" algn="just">
              <a:spcBef>
                <a:spcPts val="0"/>
              </a:spcBef>
              <a:spcAft>
                <a:spcPts val="0"/>
              </a:spcAft>
              <a:buClr>
                <a:srgbClr val="B7335C"/>
              </a:buClr>
              <a:buSzPts val="1300"/>
              <a:buFont typeface="Trebuchet MS"/>
              <a:buChar char="○"/>
            </a:pPr>
            <a:r>
              <a:rPr lang="pt-BR" sz="1300">
                <a:solidFill>
                  <a:srgbClr val="B7335C"/>
                </a:solidFill>
                <a:latin typeface="Trebuchet MS"/>
                <a:ea typeface="Trebuchet MS"/>
                <a:cs typeface="Trebuchet MS"/>
                <a:sym typeface="Trebuchet MS"/>
              </a:rPr>
              <a:t>- release/1.0</a:t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91440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rtl="0" algn="just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B7335C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>
            <a:off x="0" y="4895050"/>
            <a:ext cx="9134903" cy="240896"/>
            <a:chOff x="0" y="3088165"/>
            <a:chExt cx="5760075" cy="151975"/>
          </a:xfrm>
        </p:grpSpPr>
        <p:pic>
          <p:nvPicPr>
            <p:cNvPr id="155" name="Google Shape;155;p2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0" y="3088165"/>
              <a:ext cx="5760075" cy="15183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6" name="Google Shape;156;p24"/>
            <p:cNvSpPr/>
            <p:nvPr/>
          </p:nvSpPr>
          <p:spPr>
            <a:xfrm>
              <a:off x="0" y="3202040"/>
              <a:ext cx="0" cy="38100"/>
            </a:xfrm>
            <a:custGeom>
              <a:rect b="b" l="l" r="r" t="t"/>
              <a:pathLst>
                <a:path extrusionOk="0" h="38100" w="120000">
                  <a:moveTo>
                    <a:pt x="0" y="37958"/>
                  </a:moveTo>
                  <a:lnTo>
                    <a:pt x="0" y="0"/>
                  </a:lnTo>
                  <a:lnTo>
                    <a:pt x="0" y="37958"/>
                  </a:lnTo>
                  <a:close/>
                </a:path>
                <a:path extrusionOk="0" h="38100" w="120000">
                  <a:moveTo>
                    <a:pt x="0" y="0"/>
                  </a:moveTo>
                </a:path>
              </a:pathLst>
            </a:custGeom>
            <a:solidFill>
              <a:srgbClr val="1E0A0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200"/>
            </a:p>
          </p:txBody>
        </p:sp>
      </p:grpSp>
      <p:pic>
        <p:nvPicPr>
          <p:cNvPr id="157" name="Google Shape;157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4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  <p:sp>
        <p:nvSpPr>
          <p:cNvPr id="159" name="Google Shape;159;p24"/>
          <p:cNvSpPr txBox="1"/>
          <p:nvPr/>
        </p:nvSpPr>
        <p:spPr>
          <a:xfrm>
            <a:off x="0" y="4838950"/>
            <a:ext cx="5709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06/08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18675" y="879527"/>
            <a:ext cx="5333199" cy="1127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895050"/>
            <a:ext cx="9134902" cy="24066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5"/>
          <p:cNvSpPr txBox="1"/>
          <p:nvPr>
            <p:ph type="title"/>
          </p:nvPr>
        </p:nvSpPr>
        <p:spPr>
          <a:xfrm>
            <a:off x="550775" y="470025"/>
            <a:ext cx="5744400" cy="3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15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t-BR"/>
              <a:t>Conclusão</a:t>
            </a:r>
            <a:endParaRPr sz="1600"/>
          </a:p>
        </p:txBody>
      </p:sp>
      <p:sp>
        <p:nvSpPr>
          <p:cNvPr id="167" name="Google Shape;167;p25"/>
          <p:cNvSpPr/>
          <p:nvPr/>
        </p:nvSpPr>
        <p:spPr>
          <a:xfrm>
            <a:off x="570916" y="964681"/>
            <a:ext cx="2795988" cy="0"/>
          </a:xfrm>
          <a:custGeom>
            <a:rect b="b" l="l" r="r" t="t"/>
            <a:pathLst>
              <a:path extrusionOk="0" h="120000" w="1764030">
                <a:moveTo>
                  <a:pt x="0" y="0"/>
                </a:moveTo>
                <a:lnTo>
                  <a:pt x="1764030" y="0"/>
                </a:lnTo>
              </a:path>
            </a:pathLst>
          </a:custGeom>
          <a:noFill/>
          <a:ln cap="flat" cmpd="sng" w="12625">
            <a:solidFill>
              <a:srgbClr val="A500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pic>
        <p:nvPicPr>
          <p:cNvPr id="168" name="Google Shape;16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516770" y="4314374"/>
            <a:ext cx="1402081" cy="456416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5"/>
          <p:cNvSpPr txBox="1"/>
          <p:nvPr>
            <p:ph idx="11" type="ftr"/>
          </p:nvPr>
        </p:nvSpPr>
        <p:spPr>
          <a:xfrm>
            <a:off x="3328225" y="4924445"/>
            <a:ext cx="2967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Modelo de Apresentação — Projetos AX Academy</a:t>
            </a:r>
            <a:endParaRPr/>
          </a:p>
        </p:txBody>
      </p:sp>
      <p:sp>
        <p:nvSpPr>
          <p:cNvPr id="170" name="Google Shape;170;p25"/>
          <p:cNvSpPr txBox="1"/>
          <p:nvPr/>
        </p:nvSpPr>
        <p:spPr>
          <a:xfrm>
            <a:off x="631600" y="1465376"/>
            <a:ext cx="7354800" cy="29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B7335C"/>
                </a:solidFill>
                <a:latin typeface="Calibri"/>
                <a:ea typeface="Calibri"/>
                <a:cs typeface="Calibri"/>
                <a:sym typeface="Calibri"/>
              </a:rPr>
              <a:t>A implementação demonstrou a aplicação integrada de automação Web, geração de documentos e versionamento utilizando GitFlow. Entre as principais dificuldades destacam-se a identificação dos elementos da página, configuração do ambiente de e-mail e integração das funcionalidades</a:t>
            </a:r>
            <a:endParaRPr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rgbClr val="B7335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0" y="4838725"/>
            <a:ext cx="6513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07/08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5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32" y="8"/>
            <a:ext cx="9121148" cy="5135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64286" y="1371896"/>
            <a:ext cx="2405171" cy="855953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6"/>
          <p:cNvSpPr txBox="1"/>
          <p:nvPr/>
        </p:nvSpPr>
        <p:spPr>
          <a:xfrm>
            <a:off x="3761401" y="2635075"/>
            <a:ext cx="1621200" cy="8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71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t-BR" sz="2200">
                <a:solidFill>
                  <a:srgbClr val="FFFFFF"/>
                </a:solidFill>
                <a:latin typeface="Tahoma"/>
                <a:ea typeface="Tahoma"/>
                <a:cs typeface="Tahoma"/>
                <a:sym typeface="Tahoma"/>
              </a:rPr>
              <a:t>Obrigado!</a:t>
            </a:r>
            <a:endParaRPr b="1" sz="2200">
              <a:solidFill>
                <a:srgbClr val="FFFF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900">
              <a:solidFill>
                <a:srgbClr val="FFFF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0" name="Google Shape;180;p26"/>
          <p:cNvSpPr txBox="1"/>
          <p:nvPr/>
        </p:nvSpPr>
        <p:spPr>
          <a:xfrm>
            <a:off x="2923225" y="3201625"/>
            <a:ext cx="37794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pt-BR" sz="9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5"/>
              </a:rPr>
              <a:t>https://github.com/luanmaquin2/HyperAutomationPortalFake/tree/dev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6"/>
          <p:cNvSpPr txBox="1"/>
          <p:nvPr/>
        </p:nvSpPr>
        <p:spPr>
          <a:xfrm>
            <a:off x="0" y="4838725"/>
            <a:ext cx="651300" cy="29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09/09</a:t>
            </a:r>
            <a:endParaRPr sz="1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 txBox="1"/>
          <p:nvPr>
            <p:ph idx="11" type="ftr"/>
          </p:nvPr>
        </p:nvSpPr>
        <p:spPr>
          <a:xfrm>
            <a:off x="8189902" y="4954950"/>
            <a:ext cx="945000" cy="16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050">
            <a:spAutoFit/>
          </a:bodyPr>
          <a:lstStyle/>
          <a:p>
            <a:pPr indent="0" lvl="0" marL="25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Luã Maquiné</a:t>
            </a:r>
            <a:endParaRPr/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